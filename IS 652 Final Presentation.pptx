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e83a449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e83a449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83a449a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83a449a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e83a449a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e83a449a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e83a449a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e83a449a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e83a449a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e83a449a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ead4f668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ead4f668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ead4f6688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ead4f6688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e83a449a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e83a449a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rgbClr val="C7D0F4">
            <a:alpha val="6772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kaggle.com/datasets/philipdave/remote-work-productivity-surve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Remote Work Survey Data Analyzing Employee Productivity</a:t>
            </a:r>
            <a:endParaRPr b="1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92881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IS 652 Final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Nandika Talwar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9300" y="1778325"/>
            <a:ext cx="4087299" cy="33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Dataset Background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250075" y="1521750"/>
            <a:ext cx="3871500" cy="3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HR Analytics Dataset </a:t>
            </a:r>
            <a:r>
              <a:rPr lang="en">
                <a:solidFill>
                  <a:schemeClr val="dk1"/>
                </a:solidFill>
              </a:rPr>
              <a:t>- analyzes remote work factors that contribute to employee productivity and wellbeing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Beginner-friendly dataset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Data </a:t>
            </a:r>
            <a:r>
              <a:rPr b="1" lang="en">
                <a:solidFill>
                  <a:schemeClr val="dk1"/>
                </a:solidFill>
              </a:rPr>
              <a:t>learning</a:t>
            </a:r>
            <a:r>
              <a:rPr lang="en">
                <a:solidFill>
                  <a:schemeClr val="dk1"/>
                </a:solidFill>
              </a:rPr>
              <a:t> dataset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According to a study done by Stanford, employees have been working from home at least once a week during the years of 2019-2023 (Barrero et al., 2023).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 b="0" l="0" r="17314" t="0"/>
          <a:stretch/>
        </p:blipFill>
        <p:spPr>
          <a:xfrm>
            <a:off x="4214200" y="1383850"/>
            <a:ext cx="4661626" cy="3619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Cleansing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421125" y="500925"/>
            <a:ext cx="4579500" cy="44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Focused on U.S. data only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Fixed </a:t>
            </a:r>
            <a:r>
              <a:rPr lang="en" sz="1400">
                <a:solidFill>
                  <a:schemeClr val="dk1"/>
                </a:solidFill>
              </a:rPr>
              <a:t>company</a:t>
            </a:r>
            <a:r>
              <a:rPr lang="en" sz="1400">
                <a:solidFill>
                  <a:schemeClr val="dk1"/>
                </a:solidFill>
              </a:rPr>
              <a:t> size values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Fixed erroneous date values by filtering and changing manually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Removed ID column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Hours Worked/Week: categorized by groups for easier data visualization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Excel formula: </a:t>
            </a:r>
            <a:r>
              <a:rPr b="1" lang="en" sz="1400">
                <a:solidFill>
                  <a:schemeClr val="dk1"/>
                </a:solidFill>
              </a:rPr>
              <a:t>IF(H2&lt;35, “&lt;35”, IF(H11&lt;40, “35-39”, …)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Productivity % change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Changed the negative values by adding 4.91 to all values in the column. Making the values positive makes visualization easier</a:t>
            </a:r>
            <a:endParaRPr sz="140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363" y="1451697"/>
            <a:ext cx="2785475" cy="278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Variables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572000" y="1457150"/>
            <a:ext cx="4462200" cy="33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Variables: 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Work-Life Balance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Home-Office Quality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Remote Days/Week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Hours Worked/Week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Productivity Percent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87" name="Google Shape;87;p16"/>
          <p:cNvSpPr txBox="1"/>
          <p:nvPr>
            <p:ph idx="2" type="body"/>
          </p:nvPr>
        </p:nvSpPr>
        <p:spPr>
          <a:xfrm>
            <a:off x="462250" y="1457150"/>
            <a:ext cx="4006200" cy="35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chemeClr val="dk1"/>
                </a:solidFill>
              </a:rPr>
              <a:t>Demographics:</a:t>
            </a:r>
            <a:endParaRPr b="1" sz="2050">
              <a:solidFill>
                <a:schemeClr val="dk1"/>
              </a:solidFill>
            </a:endParaRPr>
          </a:p>
          <a:p>
            <a:pPr indent="-35611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8"/>
              <a:buChar char="●"/>
            </a:pPr>
            <a:r>
              <a:rPr lang="en" sz="2008">
                <a:solidFill>
                  <a:schemeClr val="dk1"/>
                </a:solidFill>
              </a:rPr>
              <a:t>Country</a:t>
            </a:r>
            <a:endParaRPr sz="2008">
              <a:solidFill>
                <a:schemeClr val="dk1"/>
              </a:solidFill>
            </a:endParaRPr>
          </a:p>
          <a:p>
            <a:pPr indent="-3561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8"/>
              <a:buChar char="●"/>
            </a:pPr>
            <a:r>
              <a:rPr lang="en" sz="2008">
                <a:solidFill>
                  <a:schemeClr val="dk1"/>
                </a:solidFill>
              </a:rPr>
              <a:t>Industry</a:t>
            </a:r>
            <a:endParaRPr sz="2008">
              <a:solidFill>
                <a:schemeClr val="dk1"/>
              </a:solidFill>
            </a:endParaRPr>
          </a:p>
          <a:p>
            <a:pPr indent="-3561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8"/>
              <a:buChar char="●"/>
            </a:pPr>
            <a:r>
              <a:rPr lang="en" sz="2008">
                <a:solidFill>
                  <a:schemeClr val="dk1"/>
                </a:solidFill>
              </a:rPr>
              <a:t>Role Level</a:t>
            </a:r>
            <a:endParaRPr sz="2008">
              <a:solidFill>
                <a:schemeClr val="dk1"/>
              </a:solidFill>
            </a:endParaRPr>
          </a:p>
          <a:p>
            <a:pPr indent="-3561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8"/>
              <a:buChar char="●"/>
            </a:pPr>
            <a:r>
              <a:rPr lang="en" sz="2008">
                <a:solidFill>
                  <a:schemeClr val="dk1"/>
                </a:solidFill>
              </a:rPr>
              <a:t>Company Size</a:t>
            </a:r>
            <a:endParaRPr sz="20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43500" y="500925"/>
            <a:ext cx="36972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Hours Worked/Week and Work Life Balance vs. Productivity % Change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18550" y="2405775"/>
            <a:ext cx="3347100" cy="26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Clustered column chart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Employees who worked between 35-39 hours and 45-49 hours have the </a:t>
            </a:r>
            <a:r>
              <a:rPr b="1" lang="en"/>
              <a:t>highest increase</a:t>
            </a:r>
            <a:r>
              <a:rPr lang="en"/>
              <a:t> in productivity score and work life balance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Employees who worked over 50 hours have the </a:t>
            </a:r>
            <a:r>
              <a:rPr b="1" lang="en"/>
              <a:t>lowest improvement</a:t>
            </a:r>
            <a:r>
              <a:rPr lang="en"/>
              <a:t> in productivity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7" title="Screenshot 2026-04-15 at 3.06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2975" y="888063"/>
            <a:ext cx="5318400" cy="33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41625" y="2104825"/>
            <a:ext cx="3127500" cy="26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Scatter chart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Slightly weak negative correlation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Since the variable is a change % score, it doesn’t show the total productivity and can show a weaker relationship between the two variables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Only U.S. filtering </a:t>
            </a:r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78975" y="500925"/>
            <a:ext cx="3652800" cy="16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Work-Life Balance vs. </a:t>
            </a:r>
            <a:r>
              <a:rPr lang="en" sz="2600"/>
              <a:t>Productivity % Change</a:t>
            </a:r>
            <a:endParaRPr sz="260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627" y="1135525"/>
            <a:ext cx="5337625" cy="28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 and Interpretations</a:t>
            </a:r>
            <a:endParaRPr/>
          </a:p>
        </p:txBody>
      </p:sp>
      <p:sp>
        <p:nvSpPr>
          <p:cNvPr id="107" name="Google Shape;107;p19"/>
          <p:cNvSpPr txBox="1"/>
          <p:nvPr>
            <p:ph idx="2" type="body"/>
          </p:nvPr>
        </p:nvSpPr>
        <p:spPr>
          <a:xfrm>
            <a:off x="4732225" y="777200"/>
            <a:ext cx="4248300" cy="3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Employees working between 35-39 hours report the </a:t>
            </a:r>
            <a:r>
              <a:rPr b="1" lang="en" sz="1600">
                <a:solidFill>
                  <a:schemeClr val="dk1"/>
                </a:solidFill>
              </a:rPr>
              <a:t>highest increase </a:t>
            </a:r>
            <a:r>
              <a:rPr lang="en" sz="1600">
                <a:solidFill>
                  <a:schemeClr val="dk1"/>
                </a:solidFill>
              </a:rPr>
              <a:t>in productivity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Employees working over 50 hours have the l</a:t>
            </a:r>
            <a:r>
              <a:rPr b="1" lang="en" sz="1600">
                <a:solidFill>
                  <a:schemeClr val="dk1"/>
                </a:solidFill>
              </a:rPr>
              <a:t>owest improvement </a:t>
            </a:r>
            <a:r>
              <a:rPr lang="en" sz="1600">
                <a:solidFill>
                  <a:schemeClr val="dk1"/>
                </a:solidFill>
              </a:rPr>
              <a:t>in productivity, this could be due to stress and burnout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Work-life balance isn’t as strong of a predictor for productivity change - other factors like workload and amount of meetings etc could be better predictors</a:t>
            </a:r>
            <a:endParaRPr sz="1600"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00" y="2083800"/>
            <a:ext cx="3704400" cy="1852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Ways to Analyze this Data…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384500" y="198900"/>
            <a:ext cx="4759500" cy="47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</a:rPr>
              <a:t>Amount of </a:t>
            </a:r>
            <a:r>
              <a:rPr b="1" lang="en" sz="2250">
                <a:solidFill>
                  <a:schemeClr val="dk1"/>
                </a:solidFill>
              </a:rPr>
              <a:t>Meetings/Week vs. Remote Days/Week</a:t>
            </a:r>
            <a:endParaRPr b="1" sz="2250">
              <a:solidFill>
                <a:schemeClr val="dk1"/>
              </a:solidFill>
            </a:endParaRPr>
          </a:p>
          <a:p>
            <a:pPr indent="-339328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i="1" lang="en" sz="2250">
                <a:solidFill>
                  <a:schemeClr val="dk1"/>
                </a:solidFill>
              </a:rPr>
              <a:t>How does the amount </a:t>
            </a:r>
            <a:r>
              <a:rPr i="1" lang="en" sz="2250">
                <a:solidFill>
                  <a:schemeClr val="dk1"/>
                </a:solidFill>
              </a:rPr>
              <a:t>of meetings employees have weekly determine how many remote days they take?</a:t>
            </a:r>
            <a:endParaRPr b="1" sz="2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</a:rPr>
              <a:t>Home office quality vs. Productivity %</a:t>
            </a:r>
            <a:r>
              <a:rPr lang="en" sz="2250">
                <a:solidFill>
                  <a:schemeClr val="dk1"/>
                </a:solidFill>
              </a:rPr>
              <a:t>	</a:t>
            </a:r>
            <a:endParaRPr sz="2250">
              <a:solidFill>
                <a:schemeClr val="dk1"/>
              </a:solidFill>
            </a:endParaRPr>
          </a:p>
          <a:p>
            <a:pPr indent="-339328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i="1" lang="en" sz="2250">
                <a:solidFill>
                  <a:schemeClr val="dk1"/>
                </a:solidFill>
              </a:rPr>
              <a:t>How does </a:t>
            </a:r>
            <a:r>
              <a:rPr i="1" lang="en" sz="2250">
                <a:solidFill>
                  <a:schemeClr val="dk1"/>
                </a:solidFill>
              </a:rPr>
              <a:t>the quality of our workspace affect productivity?</a:t>
            </a:r>
            <a:endParaRPr i="1" sz="2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</a:rPr>
              <a:t>Remote days/week vs. work-life balance</a:t>
            </a:r>
            <a:endParaRPr b="1" sz="2250">
              <a:solidFill>
                <a:schemeClr val="dk1"/>
              </a:solidFill>
            </a:endParaRPr>
          </a:p>
          <a:p>
            <a:pPr indent="-339328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i="1" lang="en" sz="2250">
                <a:solidFill>
                  <a:schemeClr val="dk1"/>
                </a:solidFill>
              </a:rPr>
              <a:t>Does having </a:t>
            </a:r>
            <a:r>
              <a:rPr i="1" lang="en" sz="2250">
                <a:solidFill>
                  <a:schemeClr val="dk1"/>
                </a:solidFill>
              </a:rPr>
              <a:t>more remote work days increase work-life balance?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652" y="1751550"/>
            <a:ext cx="3116625" cy="31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21" name="Google Shape;121;p21"/>
          <p:cNvSpPr txBox="1"/>
          <p:nvPr>
            <p:ph idx="4294967295" type="subTitle"/>
          </p:nvPr>
        </p:nvSpPr>
        <p:spPr>
          <a:xfrm>
            <a:off x="311700" y="1567701"/>
            <a:ext cx="8643600" cy="32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https://www.kaggle.com/datasets/philipdave/remote-work-productivity-survey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Barrero, J. M., Bloom, N., &amp; Davis, S. J. (2023, July). </a:t>
            </a:r>
            <a:r>
              <a:rPr i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evolution of working from home</a:t>
            </a:r>
            <a:r>
              <a:rPr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(Working Paper No. 23-19). Stanford Institute for Economic Policy Research. https://siepr.stanford.edu/publications/working-paper/evolution-working-home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